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00e279d0-f199-f654-1f24-524d1313080f}">
          <p14:sldIdLst>
            <p14:sldId id="256"/>
            <p14:sldId id="257"/>
          </p14:sldIdLst>
        </p14:section>
        <p14:section name="Продукт" id="{a56356ca-8f0b-d986-deed-25ae5aaf717b}">
          <p14:sldIdLst>
            <p14:sldId id="258"/>
            <p14:sldId id="259"/>
            <p14:sldId id="260"/>
          </p14:sldIdLst>
        </p14:section>
        <p14:section name="Как устроено" id="{1bbc7019-5e2e-930d-c0f9-92c9c331e99a}">
          <p14:sldIdLst>
            <p14:sldId id="261"/>
            <p14:sldId id="262"/>
            <p14:sldId id="263"/>
            <p14:sldId id="264"/>
          </p14:sldIdLst>
        </p14:section>
        <p14:section name="Итог" id="{115723ec-19af-2c1f-548a-39149672af71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Наш проект — Fade, сервис онлайн-записи в сеть барбершопов. Клиент сам выбирает филиал, услуги, мастера и свободное время, а мастер и администратор работают с одним общим расписанием. Стек: FastAPI, PostgreSQL, React, всё упаковано в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в небольших барбершопах запись идёт по телефону и в мессенджерах, администратор ведёт таблицу вручную, окна теряются, клиент не видит свободное время. Fade даёт клиенту записаться самому и видеть только свободные окна. Главное отличие от обычного бронирования: время считается в минутах из длительности услуг, запись возможна только в смену мастера с шагом 15 минут, а цена зависит от уровня мастера.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системе четыре роли. Гость смотрит каталог, мастеров и отзывы. Клиент записывается, видит свои записи, может отменить не позже чем за два часа и оставить отзыв после визита. Мастер видит своё расписание и отмечает статусы. Администратор ведёт справочники, мастеров, смены и видит статистику. Права проверяются на сервере: чужая запись отдаёт 404, чтобы нельзя было даже узнать, что она существует.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выглядит запись: филиал, одна или несколько услуг, мастер, день и время. Свободные окна сервер считает на лету из смены мастера, длительности услуг и уже занятых записей. Цену и время окончания тоже считает сервер: здесь стрижка плюс борода у топ-мастера — 2300 умножить на полтора, 3450 рублей. Если два клиента выбрали одно время, второй получит понятную ошибку.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Мастер видит расписание на день или неделю: имя и телефон клиента, услуги, комментарий. Он подтверждает запись, а после начала визита отмечает, состоялся ли он. Администратор управляет справочниками, мастерами и сменами, видит все записи и статистику: сколько записей в каждом статусе, выручку по состоявшимся визитам и загрузку мастеров.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простая: одностраничное приложение на React, Nginx, бэкенд на FastAPI и PostgreSQL. Nginx отдаёт собранный фронтенд и проксирует запросы к API, поэтому всё на одном адресе и не нужен CORS. Весь проект поднимается одной командой docker compose, миграции применяются при старте. На каждый push GitHub Actions прогоняет тесты.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причина выбора PostgreSQL — ограничение исключения EXCLUDE: оно на уровне базы запрещает две пересекающиеся записи к одному мастеру, даже если запросы пришли одновременно. В MySQL и SQLite такого нет. FastAPI сам строит документацию Swagger и проверяет данные через Pydantic. Alembic хранит схему в миграциях. JWT подходит для SPA, а выход реализован через версию токена. React с TypeScript и TanStack Query — для интерфейса, Docker — чтобы проект запускался одной командой.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базе 11 таблиц. Цена и длительность услуг копируются в состав записи в момент записи, поэтому изменение прайса не меняет старые записи. Правила данных закреплены в самой базе: восемь CHECK-ограничений и одно ограничение EXCLUDE против пересечений. Филиалы, услуги и мастера не удаляются, а выключаются, чтобы сохранить историю.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важное правило — нельзя записать двух клиентов к одному мастеру на пересекающееся время. Сначала сервер проверяет это запросом. Но если два клиента нажали кнопку одновременно, обе проверки могут пройти — тогда вторую запись отклонит сама база этим ограничением, и клиент получит ошибку 409. Интервал полуоткрытый, поэтому записи встык разрешены. Время занимают только активные статусы: ожидает и подтверждена.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проверен. На бэкенде 45 автотестов, они работают с настоящим PostgreSQL и той же миграцией, что в проде, поэтому проверяют в том числе само ограничение базы. На фронтенде 15 тестов. Есть 43 ручных тест-кейса по ролям, 42 из них покрыты автотестами. Все граничные сценарии из задания проверены. Вёрстка адаптивная — справа запись с телефона.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Команда и распределение ролей — на слайде. В итоге реализован весь API из контракта, интерфейс для четырёх ролей, проект запускается одной командой в Docker, есть 60 автотестов, CI и документация. Спасибо, можем показать сайт вживую и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Fade · онлайн-запись в сеть барбершопов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Создание программного обеспечения ·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600" kern="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FADE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Онлайн-запись в сеть барбершопов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Клиент сам выбирает филиал, услуги, мастера и свободное время. Мастер и администратор видят одно общее расписание.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FastAPI · PostgreSQL · React · Docker</a:t>
            </a:r>
            <a:endParaRPr lang="en-US" sz="1400" dirty="0"/>
          </a:p>
        </p:txBody>
      </p:sp>
      <p:pic>
        <p:nvPicPr>
          <p:cNvPr id="7" name="скриншот каталога" descr="/work/img/s_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655" y="171450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 по звонку теряет время и клиентов</a:t>
            </a:r>
            <a:endParaRPr lang="en-US" sz="3200" dirty="0"/>
          </a:p>
        </p:txBody>
      </p:sp>
      <p:sp>
        <p:nvSpPr>
          <p:cNvPr id="3" name="карточка как сейчас"/>
          <p:cNvSpPr/>
          <p:nvPr/>
        </p:nvSpPr>
        <p:spPr>
          <a:xfrm>
            <a:off x="548640" y="1371600"/>
            <a:ext cx="5394960" cy="228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сейчас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запись через звонки и мессенджеры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администратор ведёт таблицу вручную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окна у мастеров теряются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клиент не видит, когда мастер свободен</a:t>
            </a:r>
            <a:endParaRPr lang="en-US" sz="1600" dirty="0"/>
          </a:p>
        </p:txBody>
      </p:sp>
      <p:sp>
        <p:nvSpPr>
          <p:cNvPr id="6" name="карточка fade"/>
          <p:cNvSpPr/>
          <p:nvPr/>
        </p:nvSpPr>
        <p:spPr>
          <a:xfrm>
            <a:off x="6217920" y="1371600"/>
            <a:ext cx="5394960" cy="228600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 Fade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клиент записывается сам за минуту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видны только свободные окна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одно расписание у клиента, мастера и админа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двойная запись невозможна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отличается от бронирования «на даты»</a:t>
            </a:r>
            <a:endParaRPr lang="en-US" sz="2000" dirty="0"/>
          </a:p>
        </p:txBody>
      </p:sp>
      <p:sp>
        <p:nvSpPr>
          <p:cNvPr id="10" name="номер 01"/>
          <p:cNvSpPr txBox="1"/>
          <p:nvPr/>
        </p:nvSpPr>
        <p:spPr>
          <a:xfrm>
            <a:off x="548640" y="4754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Время в минутах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5166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длительность записи складывается из выбранных услуг</a:t>
            </a:r>
            <a:endParaRPr lang="en-US" sz="1400" dirty="0"/>
          </a:p>
        </p:txBody>
      </p:sp>
      <p:sp>
        <p:nvSpPr>
          <p:cNvPr id="13" name="номер 02"/>
          <p:cNvSpPr txBox="1"/>
          <p:nvPr/>
        </p:nvSpPr>
        <p:spPr>
          <a:xfrm>
            <a:off x="4297680" y="4754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Только в смену мастера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5166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сетка с шагом 15 минут, запись целиком внутри смены</a:t>
            </a:r>
            <a:endParaRPr lang="en-US" sz="1400" dirty="0"/>
          </a:p>
        </p:txBody>
      </p:sp>
      <p:sp>
        <p:nvSpPr>
          <p:cNvPr id="16" name="номер 03"/>
          <p:cNvSpPr txBox="1"/>
          <p:nvPr/>
        </p:nvSpPr>
        <p:spPr>
          <a:xfrm>
            <a:off x="8046720" y="4754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Цена зависит от мастера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5166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базовая цена × 1,0 / 1,2 / 1,5 по уровню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роли — у каждой свой раздел</a:t>
            </a:r>
            <a:endParaRPr lang="en-US" sz="3200" dirty="0"/>
          </a:p>
        </p:txBody>
      </p:sp>
      <p:sp>
        <p:nvSpPr>
          <p:cNvPr id="3" name="карточка Гость"/>
          <p:cNvSpPr/>
          <p:nvPr/>
        </p:nvSpPr>
        <p:spPr>
          <a:xfrm>
            <a:off x="548640" y="1371600"/>
            <a:ext cx="2567864" cy="4206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кружок Гость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иконка Гость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Гость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филиалы, услуги и цены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мастера с фильтрами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карточка мастера и отзывы</a:t>
            </a:r>
            <a:endParaRPr lang="en-US" sz="1500" dirty="0"/>
          </a:p>
        </p:txBody>
      </p:sp>
      <p:sp>
        <p:nvSpPr>
          <p:cNvPr id="8" name="карточка Клиент"/>
          <p:cNvSpPr/>
          <p:nvPr/>
        </p:nvSpPr>
        <p:spPr>
          <a:xfrm>
            <a:off x="3390824" y="1371600"/>
            <a:ext cx="2567864" cy="4206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кружок Клиент"/>
          <p:cNvSpPr/>
          <p:nvPr/>
        </p:nvSpPr>
        <p:spPr>
          <a:xfrm>
            <a:off x="3665144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иконка Клиент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024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0604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15468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запись на свободное время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мои записи, повтор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отмена за 2 часа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отзыв после визита</a:t>
            </a:r>
            <a:endParaRPr lang="en-US" sz="1500" dirty="0"/>
          </a:p>
        </p:txBody>
      </p:sp>
      <p:sp>
        <p:nvSpPr>
          <p:cNvPr id="13" name="карточка Мастер"/>
          <p:cNvSpPr/>
          <p:nvPr/>
        </p:nvSpPr>
        <p:spPr>
          <a:xfrm>
            <a:off x="6233008" y="1371600"/>
            <a:ext cx="2567864" cy="4206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кружок Мастер"/>
          <p:cNvSpPr/>
          <p:nvPr/>
        </p:nvSpPr>
        <p:spPr>
          <a:xfrm>
            <a:off x="6507328" y="164592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иконка Мастер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8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0604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Мастер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15468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расписание на день и неделю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клиент, телефон, услуги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подтверждение записи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итог визита</a:t>
            </a:r>
            <a:endParaRPr lang="en-US" sz="1500" dirty="0"/>
          </a:p>
        </p:txBody>
      </p:sp>
      <p:sp>
        <p:nvSpPr>
          <p:cNvPr id="18" name="карточка Администратор"/>
          <p:cNvSpPr/>
          <p:nvPr/>
        </p:nvSpPr>
        <p:spPr>
          <a:xfrm>
            <a:off x="9075191" y="1371600"/>
            <a:ext cx="2567864" cy="4206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кружок Администратор"/>
          <p:cNvSpPr/>
          <p:nvPr/>
        </p:nvSpPr>
        <p:spPr>
          <a:xfrm>
            <a:off x="9349511" y="164592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иконка Администратор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391" y="18288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0604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Администратор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15468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филиалы, категории, услуги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мастера и графики смен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все записи с фильтрами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статистика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Права проверяет сервер: чужой раздел — 403, чужая запись — 404, как будто её нет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 в четыре шага</a:t>
            </a:r>
            <a:endParaRPr lang="en-US" sz="3200" dirty="0"/>
          </a:p>
        </p:txBody>
      </p:sp>
      <p:sp>
        <p:nvSpPr>
          <p:cNvPr id="3" name="скриншот записи рамка"/>
          <p:cNvSpPr/>
          <p:nvPr/>
        </p:nvSpPr>
        <p:spPr>
          <a:xfrm>
            <a:off x="548640" y="1335024"/>
            <a:ext cx="7079459" cy="482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скриншот записи" descr="/work/img/c_boo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71600"/>
            <a:ext cx="7006307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03587" y="1371600"/>
            <a:ext cx="3539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3 450 ₽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103587" y="2029968"/>
            <a:ext cx="35394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(1 500 + 800) × 1,5 у топ-мастера. Цену и время окончания считает сервер — клиент присылает только начало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03587" y="2971800"/>
            <a:ext cx="3539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мин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103587" y="3630168"/>
            <a:ext cx="35394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шаг сетки. Показываются только начала, при которых все услуги помещаются в смену и не пересекаются с другими записями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03587" y="4572000"/>
            <a:ext cx="3539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103587" y="5230368"/>
            <a:ext cx="35394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если время успели занять — «Время уже занято», список окон обновляется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Кабинеты мастера и администратора</a:t>
            </a:r>
            <a:endParaRPr lang="en-US" sz="3200" dirty="0"/>
          </a:p>
        </p:txBody>
      </p:sp>
      <p:sp>
        <p:nvSpPr>
          <p:cNvPr id="3" name="скриншот расписания рамка"/>
          <p:cNvSpPr/>
          <p:nvPr/>
        </p:nvSpPr>
        <p:spPr>
          <a:xfrm>
            <a:off x="548640" y="1335024"/>
            <a:ext cx="6656832" cy="238772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скриншот расписания" descr="/work/img/c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71600"/>
            <a:ext cx="6583680" cy="2314575"/>
          </a:xfrm>
          <a:prstGeom prst="rect">
            <a:avLst/>
          </a:prstGeom>
        </p:spPr>
      </p:pic>
      <p:sp>
        <p:nvSpPr>
          <p:cNvPr id="5" name="скриншот статистики рамка"/>
          <p:cNvSpPr/>
          <p:nvPr/>
        </p:nvSpPr>
        <p:spPr>
          <a:xfrm>
            <a:off x="548640" y="3969639"/>
            <a:ext cx="6634406" cy="226771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скриншот статистики" descr="/work/img/c_st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006215"/>
            <a:ext cx="6561254" cy="2194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80960" y="137160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Мастер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1828800"/>
            <a:ext cx="3962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Расписание на день и неделю: кто придёт, телефон, услуги, комментарий. Подтверждает запись, после начала отмечает «состоялась» или «не пришёл».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680960" y="4006215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Администратор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4463415"/>
            <a:ext cx="3962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Справочники, мастера с услугами, смены, все записи с фильтрами. Статистика: записи по статусам, выручка по состоявшимся, загрузка мастеров.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Архитектура: монолит и SPA в Docker</a:t>
            </a:r>
            <a:endParaRPr lang="en-US" sz="3200" dirty="0"/>
          </a:p>
        </p:txBody>
      </p:sp>
      <p:sp>
        <p:nvSpPr>
          <p:cNvPr id="3" name="блок React SPA"/>
          <p:cNvSpPr/>
          <p:nvPr/>
        </p:nvSpPr>
        <p:spPr>
          <a:xfrm>
            <a:off x="548640" y="1463040"/>
            <a:ext cx="233172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кружок React SPA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логотип React SP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SPA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TypeScript, Vite, React Router, TanStack Query</a:t>
            </a:r>
            <a:endParaRPr lang="en-US" sz="1400" dirty="0"/>
          </a:p>
        </p:txBody>
      </p:sp>
      <p:sp>
        <p:nvSpPr>
          <p:cNvPr id="8" name="стрелка 1"/>
          <p:cNvSpPr/>
          <p:nvPr/>
        </p:nvSpPr>
        <p:spPr>
          <a:xfrm>
            <a:off x="2973781" y="2560320"/>
            <a:ext cx="402336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блок Nginx"/>
          <p:cNvSpPr/>
          <p:nvPr/>
        </p:nvSpPr>
        <p:spPr>
          <a:xfrm>
            <a:off x="3469538" y="1463040"/>
            <a:ext cx="233172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кружок Nginx"/>
          <p:cNvSpPr/>
          <p:nvPr/>
        </p:nvSpPr>
        <p:spPr>
          <a:xfrm>
            <a:off x="3698138" y="16916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логотип Nginx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730" y="18562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98138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98138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отдаёт сайт и проксирует /api — фронт и API на одном адресе</a:t>
            </a:r>
            <a:endParaRPr lang="en-US" sz="1400" dirty="0"/>
          </a:p>
        </p:txBody>
      </p:sp>
      <p:sp>
        <p:nvSpPr>
          <p:cNvPr id="14" name="стрелка 2"/>
          <p:cNvSpPr/>
          <p:nvPr/>
        </p:nvSpPr>
        <p:spPr>
          <a:xfrm>
            <a:off x="5894680" y="2560320"/>
            <a:ext cx="402336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блок FastAPI"/>
          <p:cNvSpPr/>
          <p:nvPr/>
        </p:nvSpPr>
        <p:spPr>
          <a:xfrm>
            <a:off x="6390437" y="1463040"/>
            <a:ext cx="233172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кружок FastAPI"/>
          <p:cNvSpPr/>
          <p:nvPr/>
        </p:nvSpPr>
        <p:spPr>
          <a:xfrm>
            <a:off x="6619037" y="16916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логотип FastAP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629" y="185623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19037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619037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Pydantic, JWT, SQLAlchemy 2; Swagger на /docs</a:t>
            </a:r>
            <a:endParaRPr lang="en-US" sz="1400" dirty="0"/>
          </a:p>
        </p:txBody>
      </p:sp>
      <p:sp>
        <p:nvSpPr>
          <p:cNvPr id="20" name="стрелка 3"/>
          <p:cNvSpPr/>
          <p:nvPr/>
        </p:nvSpPr>
        <p:spPr>
          <a:xfrm>
            <a:off x="8815578" y="2560320"/>
            <a:ext cx="402336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блок PostgreSQL 18"/>
          <p:cNvSpPr/>
          <p:nvPr/>
        </p:nvSpPr>
        <p:spPr>
          <a:xfrm>
            <a:off x="9311335" y="1463040"/>
            <a:ext cx="233172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кружок PostgreSQL 18"/>
          <p:cNvSpPr/>
          <p:nvPr/>
        </p:nvSpPr>
        <p:spPr>
          <a:xfrm>
            <a:off x="9539935" y="16916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логотип PostgreSQL 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4527" y="185623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539935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18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539935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EXCLUDE, CHECK, timestamptz; миграции Alembic</a:t>
            </a:r>
            <a:endParaRPr lang="en-US" sz="1400" dirty="0"/>
          </a:p>
        </p:txBody>
      </p:sp>
      <p:sp>
        <p:nvSpPr>
          <p:cNvPr id="26" name="блок docker compose up -d --build"/>
          <p:cNvSpPr/>
          <p:nvPr/>
        </p:nvSpPr>
        <p:spPr>
          <a:xfrm>
            <a:off x="548640" y="4343400"/>
            <a:ext cx="5410048" cy="1691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7" name="логотип docker compose up -d --buil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63040" y="4553712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1463040" y="498348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три контейнера: db, backend, nginx. Миграции применяются при старте, демо-данные — одной командой</a:t>
            </a:r>
            <a:endParaRPr lang="en-US" sz="1400" dirty="0"/>
          </a:p>
        </p:txBody>
      </p:sp>
      <p:sp>
        <p:nvSpPr>
          <p:cNvPr id="30" name="блок GitHub Actions"/>
          <p:cNvSpPr/>
          <p:nvPr/>
        </p:nvSpPr>
        <p:spPr>
          <a:xfrm>
            <a:off x="6233008" y="4343400"/>
            <a:ext cx="5410048" cy="1691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31" name="логотип GitHub Action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45720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47408" y="4553712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147408" y="498348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 каждый push: 45 тестов бэкенда с настоящим PostgreSQL, линтер, тесты и сборка фронтенда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такой стек</a:t>
            </a:r>
            <a:endParaRPr lang="en-US" sz="3200" dirty="0"/>
          </a:p>
        </p:txBody>
      </p:sp>
      <p:graphicFrame>
        <p:nvGraphicFramePr>
          <p:cNvPr id="8" name="таблица стек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Технология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Почему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Вместо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PostgreSQL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ограничение EXCLUDE не пускает пересечение записей даже при одновременных запросах; точные деньги и время с поясом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MySQL, SQLite — нет EXCLUDE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FastAPI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Swagger строится из кода, валидация Pydantic, права через Depends; Python команда уже знает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Django — тяжелее, Flask — всё вручную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SQLAlchemy + Alembic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схема в миграциях — база создаётся одинаково у всех одной командой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SQL вручную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JWT + bcrypt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SPA без серверных сессий; выход отзывает все токены через token_version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сессии в cookie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React + TypeScript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компоненты под шаги записи; типы ловят ошибки до запуска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Vue, Angular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TanStack Query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кеш и автообновление списков после записи или отмены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Redux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Docker + Nginx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запуск одной командой, одинаково на любой машине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ручная установка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таблиц, правила — в самой базе</a:t>
            </a:r>
            <a:endParaRPr lang="en-US" sz="3200" dirty="0"/>
          </a:p>
        </p:txBody>
      </p:sp>
      <p:sp>
        <p:nvSpPr>
          <p:cNvPr id="3" name="ER-диаграмма рамка"/>
          <p:cNvSpPr/>
          <p:nvPr/>
        </p:nvSpPr>
        <p:spPr>
          <a:xfrm>
            <a:off x="548640" y="1335024"/>
            <a:ext cx="6153395" cy="487375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ER-диаграмма" descr="/work/img/er_si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71600"/>
            <a:ext cx="6080243" cy="4800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268963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366243" y="1463040"/>
            <a:ext cx="32768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таблиц: пользователи и роли, филиалы, услуги, мастера, смены, записи, состав записи, отзывы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268963" y="2971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366243" y="3063240"/>
            <a:ext cx="32768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CHECK-ограничений: уровень мастера, статус, оценка 1–5, цена &gt; 0, конец позже начала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268963" y="45720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8366243" y="4663440"/>
            <a:ext cx="32768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EXCLUDE против пересечения записей одного мастера — главное правило проекта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Двойная запись невозможна</a:t>
            </a:r>
            <a:endParaRPr lang="en-US" sz="3200" dirty="0"/>
          </a:p>
        </p:txBody>
      </p:sp>
      <p:sp>
        <p:nvSpPr>
          <p:cNvPr id="3" name="блок кода"/>
          <p:cNvSpPr/>
          <p:nvPr/>
        </p:nvSpPr>
        <p:spPr>
          <a:xfrm>
            <a:off x="548640" y="1371600"/>
            <a:ext cx="6309360" cy="196596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appointments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CONSTRAINT ex_appointments_no_overlap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 USING gist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master_id WITH =,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tstzrange(start_at, end_at, '[)') WITH &amp;&amp;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WHERE (status IN ('pending', 'confirmed'));</a:t>
            </a:r>
            <a:endParaRPr lang="en-US" sz="1400" dirty="0"/>
          </a:p>
        </p:txBody>
      </p:sp>
      <p:sp>
        <p:nvSpPr>
          <p:cNvPr id="5" name="номер 01"/>
          <p:cNvSpPr txBox="1"/>
          <p:nvPr/>
        </p:nvSpPr>
        <p:spPr>
          <a:xfrm>
            <a:off x="722376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001000" y="1444752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Сервер проверяет пересечение запросом и отвечает 409</a:t>
            </a:r>
            <a:endParaRPr lang="en-US" sz="1500" dirty="0"/>
          </a:p>
        </p:txBody>
      </p:sp>
      <p:sp>
        <p:nvSpPr>
          <p:cNvPr id="7" name="номер 02"/>
          <p:cNvSpPr txBox="1"/>
          <p:nvPr/>
        </p:nvSpPr>
        <p:spPr>
          <a:xfrm>
            <a:off x="722376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176272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Если два запроса пришли одновременно, второй INSERT отклоняет база</a:t>
            </a:r>
            <a:endParaRPr lang="en-US" sz="1500" dirty="0"/>
          </a:p>
        </p:txBody>
      </p:sp>
      <p:sp>
        <p:nvSpPr>
          <p:cNvPr id="9" name="номер 03"/>
          <p:cNvSpPr txBox="1"/>
          <p:nvPr/>
        </p:nvSpPr>
        <p:spPr>
          <a:xfrm>
            <a:off x="7223760" y="2834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2907792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Интервал [начало, конец): 12:00–12:45 и запись с 12:45 не конфликтуют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Жизненный цикл записи: время мастера занимают только pending и confirmed</a:t>
            </a:r>
            <a:endParaRPr lang="en-US" sz="1400" dirty="0"/>
          </a:p>
        </p:txBody>
      </p:sp>
      <p:sp>
        <p:nvSpPr>
          <p:cNvPr id="12" name="диаграмма состояний рамка"/>
          <p:cNvSpPr/>
          <p:nvPr/>
        </p:nvSpPr>
        <p:spPr>
          <a:xfrm>
            <a:off x="1180440" y="4169664"/>
            <a:ext cx="9830816" cy="231343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диаграмма состояний" descr="/work/img/states_l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016" y="4206240"/>
            <a:ext cx="9757664" cy="2240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Проверено автотестами и вручную</a:t>
            </a:r>
            <a:endParaRPr lang="en-US" sz="3200" dirty="0"/>
          </a:p>
        </p:txBody>
      </p:sp>
      <p:sp>
        <p:nvSpPr>
          <p:cNvPr id="3" name="показатель тестов API"/>
          <p:cNvSpPr/>
          <p:nvPr/>
        </p:nvSpPr>
        <p:spPr>
          <a:xfrm>
            <a:off x="548640" y="1371600"/>
            <a:ext cx="35204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тестов API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0299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pytest, настоящий PostgreSQL и миграция</a:t>
            </a:r>
            <a:endParaRPr lang="en-US" sz="1400" dirty="0"/>
          </a:p>
        </p:txBody>
      </p:sp>
      <p:sp>
        <p:nvSpPr>
          <p:cNvPr id="7" name="показатель тестов интерфейса"/>
          <p:cNvSpPr/>
          <p:nvPr/>
        </p:nvSpPr>
        <p:spPr>
          <a:xfrm>
            <a:off x="4343400" y="1371600"/>
            <a:ext cx="35204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554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тестов интерфейса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0299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Vitest + Testing Library</a:t>
            </a:r>
            <a:endParaRPr lang="en-US" sz="1400" dirty="0"/>
          </a:p>
        </p:txBody>
      </p:sp>
      <p:sp>
        <p:nvSpPr>
          <p:cNvPr id="11" name="показатель тест-кейса"/>
          <p:cNvSpPr/>
          <p:nvPr/>
        </p:nvSpPr>
        <p:spPr>
          <a:xfrm>
            <a:off x="548640" y="2926080"/>
            <a:ext cx="35204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089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тест-кейса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5844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 ролям, 42 автоматизированы</a:t>
            </a:r>
            <a:endParaRPr lang="en-US" sz="1400" dirty="0"/>
          </a:p>
        </p:txBody>
      </p:sp>
      <p:sp>
        <p:nvSpPr>
          <p:cNvPr id="15" name="показатель проверки CI"/>
          <p:cNvSpPr/>
          <p:nvPr/>
        </p:nvSpPr>
        <p:spPr>
          <a:xfrm>
            <a:off x="4343400" y="2926080"/>
            <a:ext cx="35204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1089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проверки CI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5844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GitHub Actions на каждый push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Граничные сценарии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запись впритык к концу смены · двойная запись · отмена позже чем за 2 часа · отзыв на чужую запись · пересечение в обход API</a:t>
            </a:r>
            <a:endParaRPr lang="en-US" sz="1400" dirty="0"/>
          </a:p>
        </p:txBody>
      </p:sp>
      <p:sp>
        <p:nvSpPr>
          <p:cNvPr id="21" name="скриншот с телефона рамка"/>
          <p:cNvSpPr/>
          <p:nvPr/>
        </p:nvSpPr>
        <p:spPr>
          <a:xfrm>
            <a:off x="9351616" y="1335024"/>
            <a:ext cx="2291439" cy="487375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скриншот с телефона" descr="/work/img/s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8192" y="1371600"/>
            <a:ext cx="2218287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и итог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Кривошеев Матвей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тимлид и аналитик: репозиторий и CI, ER-модель, use case и BPMN, контракт API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41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Ватаншоев Артур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254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бэкенд: модели, миграции, авторизация, слоты, ограничение пересечений, тесты API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6557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Байрамов Артём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962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фронтенд: макет и страницы, слой API, адаптивная вёрстка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97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Авагумян Роман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7375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тестирование: тест-кейсы и граничные сценарии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463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Сделано</a:t>
            </a:r>
            <a:endParaRPr lang="en-US" sz="2000" dirty="0"/>
          </a:p>
        </p:txBody>
      </p:sp>
      <p:pic>
        <p:nvPicPr>
          <p:cNvPr id="12" name="галочка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07568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8096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весь API из контракта и бизнес-правила</a:t>
            </a:r>
            <a:endParaRPr lang="en-US" sz="1500" dirty="0"/>
          </a:p>
        </p:txBody>
      </p:sp>
      <p:pic>
        <p:nvPicPr>
          <p:cNvPr id="14" name="галочка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62432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8096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интерфейс для четырёх ролей</a:t>
            </a:r>
            <a:endParaRPr lang="en-US" sz="1500" dirty="0"/>
          </a:p>
        </p:txBody>
      </p:sp>
      <p:pic>
        <p:nvPicPr>
          <p:cNvPr id="16" name="галочка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17296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680960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запуск одной командой в Docker</a:t>
            </a:r>
            <a:endParaRPr lang="en-US" sz="1500" dirty="0"/>
          </a:p>
        </p:txBody>
      </p:sp>
      <p:pic>
        <p:nvPicPr>
          <p:cNvPr id="18" name="галочка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72160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80960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60 автотестов и CI</a:t>
            </a:r>
            <a:endParaRPr lang="en-US" sz="1500" dirty="0"/>
          </a:p>
        </p:txBody>
      </p:sp>
      <p:pic>
        <p:nvPicPr>
          <p:cNvPr id="20" name="галочка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27024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68096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документация: readme, бэкенд, стек, тест-кейсы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Спасибо! Готовы показать сайт и ответить на вопросы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de">
  <a:themeElements>
    <a:clrScheme name="Fade">
      <a:dk1>
        <a:srgbClr val="1C1A17"/>
      </a:dk1>
      <a:lt1>
        <a:srgbClr val="FFFFFF"/>
      </a:lt1>
      <a:dk2>
        <a:srgbClr val="6B655C"/>
      </a:dk2>
      <a:lt2>
        <a:srgbClr val="F4F1EA"/>
      </a:lt2>
      <a:accent1>
        <a:srgbClr val="9B2C1F"/>
      </a:accent1>
      <a:accent2>
        <a:srgbClr val="2F5D3A"/>
      </a:accent2>
      <a:accent3>
        <a:srgbClr val="6B655C"/>
      </a:accent3>
      <a:accent4>
        <a:srgbClr val="D3CCBD"/>
      </a:accent4>
      <a:accent5>
        <a:srgbClr val="EBE6DB"/>
      </a:accent5>
      <a:accent6>
        <a:srgbClr val="8A5A00"/>
      </a:accent6>
      <a:hlink>
        <a:srgbClr val="9B2C1F"/>
      </a:hlink>
      <a:folHlink>
        <a:srgbClr val="6B655C"/>
      </a:folHlink>
    </a:clrScheme>
    <a:fontScheme name="Fa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Fade — онлайн-запись в сеть барбершопов</dc:title>
  <dc:subject>PptxGenJS Presentation</dc:subject>
  <dc:creator>Команда Fade</dc:creator>
  <cp:lastModifiedBy>Команда Fade</cp:lastModifiedBy>
  <cp:revision>1</cp:revision>
  <dcterms:created xsi:type="dcterms:W3CDTF">2026-10-29T14:56:14Z</dcterms:created>
  <dcterms:modified xsi:type="dcterms:W3CDTF">2026-10-29T14:56:14Z</dcterms:modified>
</cp:coreProperties>
</file>